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8716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1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840000">
            <a:off x="8046720" y="-1143000"/>
            <a:ext cx="5303520" cy="5303520"/>
          </a:xfrm>
          <a:prstGeom prst="arc">
            <a:avLst/>
          </a:prstGeom>
          <a:solidFill>
            <a:srgbClr val="E66B55">
              <a:alpha val="88000"/>
            </a:srgbClr>
          </a:solidFill>
          <a:ln w="12700">
            <a:solidFill>
              <a:srgbClr val="E66B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300000">
            <a:off x="8778240" y="3337560"/>
            <a:ext cx="4297680" cy="4297680"/>
          </a:xfrm>
          <a:prstGeom prst="arc">
            <a:avLst/>
          </a:prstGeom>
          <a:solidFill>
            <a:srgbClr val="E7A74E">
              <a:alpha val="90000"/>
            </a:srgbClr>
          </a:solidFill>
          <a:ln w="12700">
            <a:solidFill>
              <a:srgbClr val="E7A74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21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B9AB"/>
                </a:solidFill>
              </a:rPr>
              <a:t>COWORKSKILLING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261872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 the trainer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85800" y="2395728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F4E8E1"/>
                </a:solidFill>
              </a:rPr>
              <a:t>Teach bounded tasks. Verify the evidence. Reuse what works.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685800" y="3886200"/>
            <a:ext cx="1051560" cy="347472"/>
          </a:xfrm>
          <a:prstGeom prst="roundRect">
            <a:avLst>
              <a:gd name="adj" fmla="val 42105"/>
            </a:avLst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9044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RFP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74520" y="3886200"/>
            <a:ext cx="1051560" cy="347472"/>
          </a:xfrm>
          <a:prstGeom prst="roundRect">
            <a:avLst>
              <a:gd name="adj" fmla="val 42105"/>
            </a:avLst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39044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CSR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3240" y="3886200"/>
            <a:ext cx="1051560" cy="347472"/>
          </a:xfrm>
          <a:prstGeom prst="roundRect">
            <a:avLst>
              <a:gd name="adj" fmla="val 42105"/>
            </a:avLst>
          </a:prstGeom>
          <a:solidFill>
            <a:srgbClr val="E7A74E"/>
          </a:solidFill>
          <a:ln w="12700">
            <a:solidFill>
              <a:srgbClr val="E7A7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39044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1F20"/>
                </a:solidFill>
              </a:rPr>
              <a:t>KPI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3886200"/>
            <a:ext cx="1508760" cy="347472"/>
          </a:xfrm>
          <a:prstGeom prst="roundRect">
            <a:avLst>
              <a:gd name="adj" fmla="val 42105"/>
            </a:avLst>
          </a:prstGeom>
          <a:solidFill>
            <a:srgbClr val="7D3658"/>
          </a:solidFill>
          <a:ln w="12700">
            <a:solidFill>
              <a:srgbClr val="7D36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390448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SKILL.MD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4663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CFDB"/>
                </a:solidFill>
              </a:rPr>
              <a:t>90-minute facilitator session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547104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DCC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COWORKSKILLING  |  TRAIN THE TRAINER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1417320"/>
            <a:ext cx="0" cy="4709160"/>
          </a:xfrm>
          <a:prstGeom prst="line">
            <a:avLst/>
          </a:prstGeom>
          <a:noFill/>
          <a:ln w="50800">
            <a:solidFill>
              <a:srgbClr val="E66B55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01168" y="1307592"/>
            <a:ext cx="219456" cy="219456"/>
          </a:xfrm>
          <a:prstGeom prst="ellipse">
            <a:avLst/>
          </a:prstGeom>
          <a:solidFill>
            <a:srgbClr val="E66B55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3662172"/>
            <a:ext cx="219456" cy="219456"/>
          </a:xfrm>
          <a:prstGeom prst="ellipse">
            <a:avLst/>
          </a:prstGeom>
          <a:solidFill>
            <a:srgbClr val="E66B55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601675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2004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E66B55"/>
                </a:solidFill>
              </a:rPr>
              <a:t>SESSION OUTCOMES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E1F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 ready trainer can do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D8CEC2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673352"/>
            <a:ext cx="384048" cy="384048"/>
          </a:xfrm>
          <a:prstGeom prst="ellipse">
            <a:avLst/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6367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E1F47"/>
                </a:solidFill>
              </a:rPr>
              <a:t>Frame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2203704"/>
            <a:ext cx="21031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</a:rPr>
              <a:t>Set the fictional scope, business value, and boundaries before the first prompt.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520440" y="14173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D8CEC2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76472" y="1673352"/>
            <a:ext cx="384048" cy="384048"/>
          </a:xfrm>
          <a:prstGeom prst="ellipse">
            <a:avLst/>
          </a:prstGeom>
          <a:solidFill>
            <a:srgbClr val="E7A74E"/>
          </a:solidFill>
          <a:ln w="12700">
            <a:solidFill>
              <a:srgbClr val="E7A7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6367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E1F47"/>
                </a:solidFill>
              </a:rPr>
              <a:t>Bound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94760" y="2203704"/>
            <a:ext cx="21031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</a:rPr>
              <a:t>Name exact inputs, editable outputs, exclusions, and failure behavior.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41732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D8CEC2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56832" y="1673352"/>
            <a:ext cx="384048" cy="384048"/>
          </a:xfrm>
          <a:prstGeom prst="ellipse">
            <a:avLst/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16367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E1F47"/>
                </a:solidFill>
              </a:rPr>
              <a:t>Verify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75120" y="2203704"/>
            <a:ext cx="21031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</a:rPr>
              <a:t>Open files, trace claims and formulas, and surface unresolved gaps.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281160" y="1417320"/>
            <a:ext cx="22860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8890">
            <a:solidFill>
              <a:srgbClr val="D8CEC2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37192" y="1673352"/>
            <a:ext cx="384048" cy="384048"/>
          </a:xfrm>
          <a:prstGeom prst="ellipse">
            <a:avLst/>
          </a:prstGeom>
          <a:solidFill>
            <a:srgbClr val="7D3658"/>
          </a:solidFill>
          <a:ln w="12700">
            <a:solidFill>
              <a:srgbClr val="7D36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0" y="163677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E1F47"/>
                </a:solidFill>
              </a:rPr>
              <a:t>Reuse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555480" y="2203704"/>
            <a:ext cx="173736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</a:rPr>
              <a:t>Translate a proven procedure into a tested, narrowly triggered skill.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097280" y="3886200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3E1F47"/>
          </a:solidFill>
          <a:ln w="12700">
            <a:solidFill>
              <a:srgbClr val="3E1F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4160520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</a:rPr>
              <a:t>The standard is not "Cowork produced something."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6172200" y="4041648"/>
            <a:ext cx="4297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4E8E1"/>
                </a:solidFill>
              </a:rPr>
              <a:t>The standard is "a reviewer can inspect the sources, challenge the assumptions, and see what remains unknown."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02920" y="6547104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F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COWORKSKILLING  |  TRAIN THE TRAINER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E1F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1371600"/>
            <a:ext cx="0" cy="4709160"/>
          </a:xfrm>
          <a:prstGeom prst="line">
            <a:avLst/>
          </a:prstGeom>
          <a:noFill/>
          <a:ln w="50800">
            <a:solidFill>
              <a:srgbClr val="397C7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01168" y="1261872"/>
            <a:ext cx="219456" cy="219456"/>
          </a:xfrm>
          <a:prstGeom prst="ellipse">
            <a:avLst/>
          </a:prstGeom>
          <a:solidFill>
            <a:srgbClr val="397C78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3616452"/>
            <a:ext cx="219456" cy="219456"/>
          </a:xfrm>
          <a:prstGeom prst="ellipse">
            <a:avLst/>
          </a:prstGeom>
          <a:solidFill>
            <a:srgbClr val="397C78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597103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2004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E66B55"/>
                </a:solidFill>
              </a:rPr>
              <a:t>SIX MOVES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E1F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one repeatable facilitation rhythm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713232" y="1965960"/>
            <a:ext cx="1234440" cy="1234440"/>
          </a:xfrm>
          <a:prstGeom prst="ellipse">
            <a:avLst/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1579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2064" y="336499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1F47"/>
                </a:solidFill>
              </a:rPr>
              <a:t>Frame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66544" y="2414016"/>
            <a:ext cx="384048" cy="310896"/>
          </a:xfrm>
          <a:prstGeom prst="chevron">
            <a:avLst/>
          </a:prstGeom>
          <a:solidFill>
            <a:srgbClr val="D8CEC2"/>
          </a:solidFill>
          <a:ln w="12700">
            <a:solidFill>
              <a:srgbClr val="D8CE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87752" y="1965960"/>
            <a:ext cx="1234440" cy="1234440"/>
          </a:xfrm>
          <a:prstGeom prst="ellipse">
            <a:avLst/>
          </a:prstGeom>
          <a:solidFill>
            <a:srgbClr val="E7A74E"/>
          </a:solidFill>
          <a:ln w="12700">
            <a:solidFill>
              <a:srgbClr val="E7A74E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87752" y="21579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86584" y="336499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1F47"/>
                </a:solidFill>
              </a:rPr>
              <a:t>Bound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41064" y="2414016"/>
            <a:ext cx="384048" cy="310896"/>
          </a:xfrm>
          <a:prstGeom prst="chevron">
            <a:avLst/>
          </a:prstGeom>
          <a:solidFill>
            <a:srgbClr val="D8CEC2"/>
          </a:solidFill>
          <a:ln w="12700">
            <a:solidFill>
              <a:srgbClr val="D8CE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62272" y="1965960"/>
            <a:ext cx="1234440" cy="1234440"/>
          </a:xfrm>
          <a:prstGeom prst="ellipse">
            <a:avLst/>
          </a:prstGeom>
          <a:solidFill>
            <a:srgbClr val="7D3658"/>
          </a:solidFill>
          <a:ln w="12700">
            <a:solidFill>
              <a:srgbClr val="7D3658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62272" y="21579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61104" y="336499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1F47"/>
                </a:solidFill>
              </a:rPr>
              <a:t>Run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15584" y="2414016"/>
            <a:ext cx="384048" cy="310896"/>
          </a:xfrm>
          <a:prstGeom prst="chevron">
            <a:avLst/>
          </a:prstGeom>
          <a:solidFill>
            <a:srgbClr val="D8CEC2"/>
          </a:solidFill>
          <a:ln w="12700">
            <a:solidFill>
              <a:srgbClr val="D8CE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1965960"/>
            <a:ext cx="1234440" cy="1234440"/>
          </a:xfrm>
          <a:prstGeom prst="ellipse">
            <a:avLst/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36792" y="21579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35624" y="336499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1F47"/>
                </a:solidFill>
              </a:rPr>
              <a:t>Inspect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90104" y="2414016"/>
            <a:ext cx="384048" cy="310896"/>
          </a:xfrm>
          <a:prstGeom prst="chevron">
            <a:avLst/>
          </a:prstGeom>
          <a:solidFill>
            <a:srgbClr val="D8CEC2"/>
          </a:solidFill>
          <a:ln w="12700">
            <a:solidFill>
              <a:srgbClr val="D8CE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11312" y="1965960"/>
            <a:ext cx="1234440" cy="1234440"/>
          </a:xfrm>
          <a:prstGeom prst="ellipse">
            <a:avLst/>
          </a:prstGeom>
          <a:solidFill>
            <a:srgbClr val="4D6E8A"/>
          </a:solidFill>
          <a:ln w="12700">
            <a:solidFill>
              <a:srgbClr val="4D6E8A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11312" y="21579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10144" y="336499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1F47"/>
                </a:solidFill>
              </a:rPr>
              <a:t>Trace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564624" y="2414016"/>
            <a:ext cx="384048" cy="310896"/>
          </a:xfrm>
          <a:prstGeom prst="chevron">
            <a:avLst/>
          </a:prstGeom>
          <a:solidFill>
            <a:srgbClr val="D8CEC2"/>
          </a:solidFill>
          <a:ln w="12700">
            <a:solidFill>
              <a:srgbClr val="D8CE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85832" y="1965960"/>
            <a:ext cx="1234440" cy="1234440"/>
          </a:xfrm>
          <a:prstGeom prst="ellipse">
            <a:avLst/>
          </a:prstGeom>
          <a:solidFill>
            <a:srgbClr val="3E1F47"/>
          </a:solidFill>
          <a:ln w="12700">
            <a:solidFill>
              <a:srgbClr val="3E1F47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085832" y="215798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884664" y="3364992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1F47"/>
                </a:solidFill>
              </a:rPr>
              <a:t>Challenge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4133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6B55"/>
                </a:solidFill>
              </a:rPr>
              <a:t>Fresh task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97480" y="41330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A74E"/>
                </a:solidFill>
              </a:rPr>
              <a:t>Exact attachments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45152" y="4133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3658"/>
                </a:solidFill>
              </a:rPr>
              <a:t>Full prompt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46520" y="41330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7C78"/>
                </a:solidFill>
              </a:rPr>
              <a:t>Private review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0" y="41330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6E8A"/>
                </a:solidFill>
              </a:rPr>
              <a:t>Source beside output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241280" y="41330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E1F47"/>
                </a:solidFill>
              </a:rPr>
              <a:t>Audit follow-up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965960" y="4892040"/>
            <a:ext cx="8275320" cy="804672"/>
          </a:xfrm>
          <a:prstGeom prst="roundRect">
            <a:avLst>
              <a:gd name="adj" fmla="val 5682"/>
            </a:avLst>
          </a:prstGeom>
          <a:solidFill>
            <a:srgbClr val="E5EFE5"/>
          </a:solidFill>
          <a:ln w="12700">
            <a:solidFill>
              <a:srgbClr val="A9C4A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76272" y="512978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E1F47"/>
                </a:solidFill>
              </a:rPr>
              <a:t>Trainer cue: show a correction, retained gap, or honestly reported limitation - not only the happy path.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02920" y="6547104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F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COWORKSKILLING  |  TRAIN THE TRAINER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E1F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1371600"/>
            <a:ext cx="0" cy="4754880"/>
          </a:xfrm>
          <a:prstGeom prst="line">
            <a:avLst/>
          </a:prstGeom>
          <a:noFill/>
          <a:ln w="50800">
            <a:solidFill>
              <a:srgbClr val="E7A74E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01168" y="126187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363931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601675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2004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E66B55"/>
                </a:solidFill>
              </a:rPr>
              <a:t>PROMPT ANATOMY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E1F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bounded prompt has six visible contracts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E66B55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16367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66B55"/>
                </a:solidFill>
              </a:rPr>
              <a:t>INPUTS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20756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E1F47"/>
                </a:solidFill>
              </a:rPr>
              <a:t>Exact files and source scope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90288" y="1417320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E7A74E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6367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7A74E"/>
                </a:solidFill>
              </a:rPr>
              <a:t>OUTPUTS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0756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E1F47"/>
                </a:solidFill>
              </a:rPr>
              <a:t>Named editable deliverables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57616" y="1417320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397C78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13648" y="16367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97C78"/>
                </a:solidFill>
              </a:rPr>
              <a:t>GROUNDING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13648" y="20756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E1F47"/>
                </a:solidFill>
              </a:rPr>
              <a:t>What counts as evidence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3474720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7D3658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78992" y="36941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D3658"/>
                </a:solidFill>
              </a:rPr>
              <a:t>EXCLUSIONS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" y="41330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E1F47"/>
                </a:solidFill>
              </a:rPr>
              <a:t>Searches, actions, or claims forbidden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90288" y="3474720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4D6E8A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6941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4D6E8A"/>
                </a:solidFill>
              </a:rPr>
              <a:t>VERIFICATION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1330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E1F47"/>
                </a:solidFill>
              </a:rPr>
              <a:t>Checks before "done"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57616" y="3474720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5240">
            <a:solidFill>
              <a:srgbClr val="3E1F47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13648" y="36941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3E1F47"/>
                </a:solidFill>
              </a:rPr>
              <a:t>FAILURE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13648" y="41330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E1F47"/>
                </a:solidFill>
              </a:rPr>
              <a:t>How to disclose missing capability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547104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F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COWORKSKILLING  |  TRAIN THE TRAINER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E1F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E1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E8B9AB"/>
                </a:solidFill>
              </a:rPr>
              <a:t>RUN OF SHOW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90-minute session that protects the checkpoints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170432" cy="2148840"/>
          </a:xfrm>
          <a:prstGeom prst="roundRect">
            <a:avLst>
              <a:gd name="adj" fmla="val 6250"/>
            </a:avLst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12848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7797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30" dirty="0">
                <a:solidFill>
                  <a:srgbClr val="FFFFFF"/>
                </a:solidFill>
              </a:rPr>
              <a:t>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3504" y="427939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Frame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57400" y="1874520"/>
            <a:ext cx="1170432" cy="2148840"/>
          </a:xfrm>
          <a:prstGeom prst="roundRect">
            <a:avLst>
              <a:gd name="adj" fmla="val 6250"/>
            </a:avLst>
          </a:prstGeom>
          <a:solidFill>
            <a:srgbClr val="E7A74E"/>
          </a:solidFill>
          <a:ln w="12700">
            <a:solidFill>
              <a:srgbClr val="E7A74E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2212848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57400" y="27797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30" dirty="0">
                <a:solidFill>
                  <a:srgbClr val="FFFFFF"/>
                </a:solidFill>
              </a:rPr>
              <a:t>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20824" y="427939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Prompt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0" y="1874520"/>
            <a:ext cx="1170432" cy="2148840"/>
          </a:xfrm>
          <a:prstGeom prst="roundRect">
            <a:avLst>
              <a:gd name="adj" fmla="val 6250"/>
            </a:avLst>
          </a:prstGeom>
          <a:solidFill>
            <a:srgbClr val="7D3658"/>
          </a:solidFill>
          <a:ln w="12700">
            <a:solidFill>
              <a:srgbClr val="7D3658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2212848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74720" y="27797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30" dirty="0">
                <a:solidFill>
                  <a:srgbClr val="FFFFFF"/>
                </a:solidFill>
              </a:rPr>
              <a:t>MIN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38144" y="427939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RFP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1874520"/>
            <a:ext cx="1170432" cy="2148840"/>
          </a:xfrm>
          <a:prstGeom prst="roundRect">
            <a:avLst>
              <a:gd name="adj" fmla="val 6250"/>
            </a:avLst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212848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92040" y="27797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30" dirty="0">
                <a:solidFill>
                  <a:srgbClr val="FFFFFF"/>
                </a:solidFill>
              </a:rPr>
              <a:t>MIN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55464" y="427939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CSR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1874520"/>
            <a:ext cx="1170432" cy="2148840"/>
          </a:xfrm>
          <a:prstGeom prst="roundRect">
            <a:avLst>
              <a:gd name="adj" fmla="val 6250"/>
            </a:avLst>
          </a:prstGeom>
          <a:solidFill>
            <a:srgbClr val="4D6E8A"/>
          </a:solidFill>
          <a:ln w="12700">
            <a:solidFill>
              <a:srgbClr val="4D6E8A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2212848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09360" y="27797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30" dirty="0">
                <a:solidFill>
                  <a:srgbClr val="FFFFFF"/>
                </a:solidFill>
              </a:rPr>
              <a:t>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72784" y="427939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KPI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726680" y="1874520"/>
            <a:ext cx="1170432" cy="2148840"/>
          </a:xfrm>
          <a:prstGeom prst="roundRect">
            <a:avLst>
              <a:gd name="adj" fmla="val 6250"/>
            </a:avLst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26680" y="2212848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726680" y="27797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30" dirty="0">
                <a:solidFill>
                  <a:srgbClr val="FFFFFF"/>
                </a:solidFill>
              </a:rPr>
              <a:t>MIN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90104" y="427939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Skills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44000" y="1874520"/>
            <a:ext cx="1170432" cy="2148840"/>
          </a:xfrm>
          <a:prstGeom prst="roundRect">
            <a:avLst>
              <a:gd name="adj" fmla="val 6250"/>
            </a:avLst>
          </a:prstGeom>
          <a:solidFill>
            <a:srgbClr val="E7A74E"/>
          </a:solidFill>
          <a:ln w="12700">
            <a:solidFill>
              <a:srgbClr val="E7A74E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0" y="2212848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10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144000" y="27797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30" dirty="0">
                <a:solidFill>
                  <a:srgbClr val="FFFFFF"/>
                </a:solidFill>
              </a:rPr>
              <a:t>MIN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07424" y="427939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Teach-back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561320" y="1874520"/>
            <a:ext cx="1170432" cy="2148840"/>
          </a:xfrm>
          <a:prstGeom prst="roundRect">
            <a:avLst>
              <a:gd name="adj" fmla="val 6250"/>
            </a:avLst>
          </a:prstGeom>
          <a:solidFill>
            <a:srgbClr val="A9C4AD"/>
          </a:solidFill>
          <a:ln w="12700">
            <a:solidFill>
              <a:srgbClr val="A9C4AD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561320" y="2212848"/>
            <a:ext cx="1170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31F20"/>
                </a:solidFill>
              </a:rPr>
              <a:t>5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10561320" y="27797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30" dirty="0">
                <a:solidFill>
                  <a:srgbClr val="231F20"/>
                </a:solidFill>
              </a:rPr>
              <a:t>MIN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524744" y="4279392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Close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143000" y="5074920"/>
            <a:ext cx="9921240" cy="694944"/>
          </a:xfrm>
          <a:prstGeom prst="roundRect">
            <a:avLst>
              <a:gd name="adj" fmla="val 6579"/>
            </a:avLst>
          </a:prstGeom>
          <a:solidFill>
            <a:srgbClr val="56305D"/>
          </a:solidFill>
          <a:ln w="12700">
            <a:solidFill>
              <a:srgbClr val="7042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08760" y="5239512"/>
            <a:ext cx="9189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If time is tight: demonstrate one pack deeply. Never skip private inspection to squeeze in another generation.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502920" y="6547104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DCC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COWORKSKILLING  |  TRAIN THE TRAINER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1371600"/>
            <a:ext cx="0" cy="4754880"/>
          </a:xfrm>
          <a:prstGeom prst="line">
            <a:avLst/>
          </a:prstGeom>
          <a:noFill/>
          <a:ln w="50800">
            <a:solidFill>
              <a:srgbClr val="E66B55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01168" y="1261872"/>
            <a:ext cx="219456" cy="219456"/>
          </a:xfrm>
          <a:prstGeom prst="ellipse">
            <a:avLst/>
          </a:prstGeom>
          <a:solidFill>
            <a:srgbClr val="E66B55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3639312"/>
            <a:ext cx="219456" cy="219456"/>
          </a:xfrm>
          <a:prstGeom prst="ellipse">
            <a:avLst/>
          </a:prstGeom>
          <a:solidFill>
            <a:srgbClr val="E66B55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601675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2004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E66B55"/>
                </a:solidFill>
              </a:rPr>
              <a:t>SCENARIO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E1F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RFP: make the gaps as visible as the strengths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1508760" cy="347472"/>
          </a:xfrm>
          <a:prstGeom prst="roundRect">
            <a:avLst>
              <a:gd name="adj" fmla="val 42105"/>
            </a:avLst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356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 INPUT DOCS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59152" y="1417320"/>
            <a:ext cx="1828800" cy="347472"/>
          </a:xfrm>
          <a:prstGeom prst="roundRect">
            <a:avLst>
              <a:gd name="adj" fmla="val 42105"/>
            </a:avLst>
          </a:prstGeom>
          <a:solidFill>
            <a:srgbClr val="7D3658"/>
          </a:solidFill>
          <a:ln w="12700">
            <a:solidFill>
              <a:srgbClr val="7D36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1435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 EDITABLE OUTPUTS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25112" y="1417320"/>
            <a:ext cx="1600200" cy="347472"/>
          </a:xfrm>
          <a:prstGeom prst="roundRect">
            <a:avLst>
              <a:gd name="adj" fmla="val 42105"/>
            </a:avLst>
          </a:prstGeom>
          <a:solidFill>
            <a:srgbClr val="E7A74E"/>
          </a:solidFill>
          <a:ln w="12700">
            <a:solidFill>
              <a:srgbClr val="E7A7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14356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1F20"/>
                </a:solidFill>
              </a:rPr>
              <a:t>12 REQUIREMENTS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2148840"/>
            <a:ext cx="3364992" cy="2057400"/>
          </a:xfrm>
          <a:prstGeom prst="roundRect">
            <a:avLst>
              <a:gd name="adj" fmla="val 3556"/>
            </a:avLst>
          </a:prstGeom>
          <a:solidFill>
            <a:srgbClr val="E5EFE5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2487168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97C78"/>
                </a:solidFill>
              </a:rPr>
              <a:t>SUPPORTED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70432" y="301752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E1F47"/>
                </a:solidFill>
              </a:rPr>
              <a:t>Evidence backs the proposed response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44568" y="2148840"/>
            <a:ext cx="3364992" cy="2057400"/>
          </a:xfrm>
          <a:prstGeom prst="roundRect">
            <a:avLst>
              <a:gd name="adj" fmla="val 3556"/>
            </a:avLst>
          </a:prstGeom>
          <a:solidFill>
            <a:srgbClr val="F8EBCF"/>
          </a:solidFill>
          <a:ln w="12700">
            <a:solidFill>
              <a:srgbClr val="E7A7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2487168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7A74E"/>
                </a:solidFill>
              </a:rPr>
              <a:t>PARTIAL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01752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E1F47"/>
                </a:solidFill>
              </a:rPr>
              <a:t>Some requested conditions remain unresolved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66176" y="2148840"/>
            <a:ext cx="3364992" cy="2057400"/>
          </a:xfrm>
          <a:prstGeom prst="roundRect">
            <a:avLst>
              <a:gd name="adj" fmla="val 3556"/>
            </a:avLst>
          </a:prstGeom>
          <a:solidFill>
            <a:srgbClr val="F9DED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0496" y="2487168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66B55"/>
                </a:solidFill>
              </a:rPr>
              <a:t>NOT EVIDENCED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13648" y="301752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E1F47"/>
                </a:solidFill>
              </a:rPr>
              <a:t>Missing proof stays unconfirmed - not disproved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60120" y="4736592"/>
            <a:ext cx="10195560" cy="868680"/>
          </a:xfrm>
          <a:prstGeom prst="roundRect">
            <a:avLst>
              <a:gd name="adj" fmla="val 5263"/>
            </a:avLst>
          </a:prstGeom>
          <a:solidFill>
            <a:srgbClr val="3E1F47"/>
          </a:solidFill>
          <a:ln w="12700">
            <a:solidFill>
              <a:srgbClr val="3E1F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49560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E7A74E"/>
                </a:solidFill>
              </a:rPr>
              <a:t>SHOW THIS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87168" y="4892040"/>
            <a:ext cx="8092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 mandatory gap beside its source - not just the polished executive summary.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6547104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F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COWORKSKILLING  |  TRAIN THE TRAINER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E1F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1371600"/>
            <a:ext cx="0" cy="4754880"/>
          </a:xfrm>
          <a:prstGeom prst="line">
            <a:avLst/>
          </a:prstGeom>
          <a:noFill/>
          <a:ln w="50800">
            <a:solidFill>
              <a:srgbClr val="397C7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01168" y="1261872"/>
            <a:ext cx="219456" cy="219456"/>
          </a:xfrm>
          <a:prstGeom prst="ellipse">
            <a:avLst/>
          </a:prstGeom>
          <a:solidFill>
            <a:srgbClr val="397C78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3639312"/>
            <a:ext cx="219456" cy="219456"/>
          </a:xfrm>
          <a:prstGeom prst="ellipse">
            <a:avLst/>
          </a:prstGeom>
          <a:solidFill>
            <a:srgbClr val="397C78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601675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2004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E66B55"/>
                </a:solidFill>
              </a:rPr>
              <a:t>SCENARIO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E1F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CSR: preserve the claim ladder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868680" y="4526280"/>
            <a:ext cx="1938528" cy="987552"/>
          </a:xfrm>
          <a:prstGeom prst="roundRect">
            <a:avLst>
              <a:gd name="adj" fmla="val 5556"/>
            </a:avLst>
          </a:prstGeom>
          <a:solidFill>
            <a:srgbClr val="E2EBF1"/>
          </a:solidFill>
          <a:ln w="12700">
            <a:solidFill>
              <a:srgbClr val="4D6E8A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14984" y="468172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D6E8A"/>
                </a:solidFill>
              </a:rPr>
              <a:t>POLICY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96696" y="4983480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1F47"/>
                </a:solidFill>
              </a:rPr>
              <a:t>A document exists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81528" y="3959352"/>
            <a:ext cx="1938528" cy="987552"/>
          </a:xfrm>
          <a:prstGeom prst="roundRect">
            <a:avLst>
              <a:gd name="adj" fmla="val 5556"/>
            </a:avLst>
          </a:prstGeom>
          <a:solidFill>
            <a:srgbClr val="E5EFE5"/>
          </a:solidFill>
          <a:ln w="12700">
            <a:solidFill>
              <a:srgbClr val="397C78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27832" y="4114800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7C78"/>
                </a:solidFill>
              </a:rPr>
              <a:t>PROCESS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9544" y="4416552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1F47"/>
                </a:solidFill>
              </a:rPr>
              <a:t>A method is described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94376" y="3392424"/>
            <a:ext cx="1938528" cy="987552"/>
          </a:xfrm>
          <a:prstGeom prst="roundRect">
            <a:avLst>
              <a:gd name="adj" fmla="val 5556"/>
            </a:avLst>
          </a:prstGeom>
          <a:solidFill>
            <a:srgbClr val="F8EBCF"/>
          </a:solidFill>
          <a:ln w="12700">
            <a:solidFill>
              <a:srgbClr val="E7A74E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3547872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A74E"/>
                </a:solidFill>
              </a:rPr>
              <a:t>IMPLEMENTATION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22392" y="3849624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1F47"/>
                </a:solidFill>
              </a:rPr>
              <a:t>Activity actually occurred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07224" y="2825496"/>
            <a:ext cx="1938528" cy="987552"/>
          </a:xfrm>
          <a:prstGeom prst="roundRect">
            <a:avLst>
              <a:gd name="adj" fmla="val 5556"/>
            </a:avLst>
          </a:prstGeom>
          <a:solidFill>
            <a:srgbClr val="F9DED5"/>
          </a:solidFill>
          <a:ln w="12700">
            <a:solidFill>
              <a:srgbClr val="E66B55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653528" y="2980944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6B55"/>
                </a:solidFill>
              </a:rPr>
              <a:t>MEASUREMENT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35240" y="328269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1F47"/>
                </a:solidFill>
              </a:rPr>
              <a:t>A supported numerator + denominator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720072" y="2258568"/>
            <a:ext cx="1938528" cy="987552"/>
          </a:xfrm>
          <a:prstGeom prst="roundRect">
            <a:avLst>
              <a:gd name="adj" fmla="val 5556"/>
            </a:avLst>
          </a:prstGeom>
          <a:solidFill>
            <a:srgbClr val="E9DFEA"/>
          </a:solidFill>
          <a:ln w="12700">
            <a:solidFill>
              <a:srgbClr val="7D3658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866376" y="2414016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D3658"/>
                </a:solidFill>
              </a:rPr>
              <a:t>ASSURANCE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48088" y="271576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E1F47"/>
                </a:solidFill>
              </a:rPr>
              <a:t>Independent evidence - not internal approval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96112" y="13898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6B55"/>
                </a:solidFill>
              </a:rPr>
              <a:t>Entity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75104" y="13898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A74E"/>
                </a:solidFill>
              </a:rPr>
              <a:t>Period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54096" y="138988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7C78"/>
                </a:solidFill>
              </a:rPr>
              <a:t>Version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33088" y="13898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D6E8A"/>
                </a:solidFill>
              </a:rPr>
              <a:t>Denominator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77256" y="138988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3658"/>
                </a:solidFill>
              </a:rPr>
              <a:t>Target != result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26680" y="1234440"/>
            <a:ext cx="3429000" cy="1005840"/>
          </a:xfrm>
          <a:prstGeom prst="roundRect">
            <a:avLst>
              <a:gd name="adj" fmla="val 5455"/>
            </a:avLst>
          </a:prstGeom>
          <a:solidFill>
            <a:srgbClr val="3E1F47"/>
          </a:solidFill>
          <a:ln w="12700">
            <a:solidFill>
              <a:srgbClr val="3E1F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141732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A74E"/>
                </a:solidFill>
              </a:rPr>
              <a:t>Trainer checkpoint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28432" y="1719072"/>
            <a:ext cx="2825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Show one metric the evidence cannot calculate.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547104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F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COWORKSKILLING  |  TRAIN THE TRAINER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E1F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1371600"/>
            <a:ext cx="0" cy="4754880"/>
          </a:xfrm>
          <a:prstGeom prst="line">
            <a:avLst/>
          </a:prstGeom>
          <a:noFill/>
          <a:ln w="50800">
            <a:solidFill>
              <a:srgbClr val="E7A74E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01168" y="126187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363931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601675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2004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E66B55"/>
                </a:solidFill>
              </a:rPr>
              <a:t>SCENARIO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E1F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KPI: rule order is the analysis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685800" y="1965960"/>
            <a:ext cx="1847088" cy="1691640"/>
          </a:xfrm>
          <a:prstGeom prst="roundRect">
            <a:avLst>
              <a:gd name="adj" fmla="val 3784"/>
            </a:avLst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26771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</a:rPr>
              <a:t>120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850392" y="299008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FFFFFF"/>
                </a:solidFill>
              </a:rPr>
              <a:t>RAW ROWS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69464" y="2670048"/>
            <a:ext cx="292608" cy="310896"/>
          </a:xfrm>
          <a:prstGeom prst="chevron">
            <a:avLst/>
          </a:prstGeom>
          <a:solidFill>
            <a:srgbClr val="D8CEC2"/>
          </a:solidFill>
          <a:ln w="12700">
            <a:solidFill>
              <a:srgbClr val="D8CE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53512" y="1965960"/>
            <a:ext cx="1847088" cy="1691640"/>
          </a:xfrm>
          <a:prstGeom prst="roundRect">
            <a:avLst>
              <a:gd name="adj" fmla="val 3784"/>
            </a:avLst>
          </a:prstGeom>
          <a:solidFill>
            <a:srgbClr val="E7A74E"/>
          </a:solidFill>
          <a:ln w="12700">
            <a:solidFill>
              <a:srgbClr val="E7A74E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53512" y="226771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</a:rPr>
              <a:t>116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3118104" y="299008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FFFFFF"/>
                </a:solidFill>
              </a:rPr>
              <a:t>EXACT COPIES REMOVED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37176" y="2670048"/>
            <a:ext cx="292608" cy="310896"/>
          </a:xfrm>
          <a:prstGeom prst="chevron">
            <a:avLst/>
          </a:prstGeom>
          <a:solidFill>
            <a:srgbClr val="D8CEC2"/>
          </a:solidFill>
          <a:ln w="12700">
            <a:solidFill>
              <a:srgbClr val="D8CE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21224" y="1965960"/>
            <a:ext cx="1847088" cy="1691640"/>
          </a:xfrm>
          <a:prstGeom prst="roundRect">
            <a:avLst>
              <a:gd name="adj" fmla="val 3784"/>
            </a:avLst>
          </a:prstGeom>
          <a:solidFill>
            <a:srgbClr val="7D3658"/>
          </a:solidFill>
          <a:ln w="12700">
            <a:solidFill>
              <a:srgbClr val="7D3658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21224" y="226771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</a:rPr>
              <a:t>112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5385816" y="299008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FFFFFF"/>
                </a:solidFill>
              </a:rPr>
              <a:t>LATEST ORDER VERSIONS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04888" y="2670048"/>
            <a:ext cx="292608" cy="310896"/>
          </a:xfrm>
          <a:prstGeom prst="chevron">
            <a:avLst/>
          </a:prstGeom>
          <a:solidFill>
            <a:srgbClr val="D8CEC2"/>
          </a:solidFill>
          <a:ln w="12700">
            <a:solidFill>
              <a:srgbClr val="D8CE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88936" y="1965960"/>
            <a:ext cx="1847088" cy="1691640"/>
          </a:xfrm>
          <a:prstGeom prst="roundRect">
            <a:avLst>
              <a:gd name="adj" fmla="val 3784"/>
            </a:avLst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88936" y="226771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</a:rPr>
              <a:t>76</a:t>
            </a:r>
            <a:endParaRPr lang="en-US" sz="3100" dirty="0"/>
          </a:p>
        </p:txBody>
      </p:sp>
      <p:sp>
        <p:nvSpPr>
          <p:cNvPr id="22" name="Text 20"/>
          <p:cNvSpPr/>
          <p:nvPr/>
        </p:nvSpPr>
        <p:spPr>
          <a:xfrm>
            <a:off x="7653528" y="299008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FFFFFF"/>
                </a:solidFill>
              </a:rPr>
              <a:t>ELIGIBLE ORDERS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372600" y="2670048"/>
            <a:ext cx="292608" cy="310896"/>
          </a:xfrm>
          <a:prstGeom prst="chevron">
            <a:avLst/>
          </a:prstGeom>
          <a:solidFill>
            <a:srgbClr val="D8CEC2"/>
          </a:solidFill>
          <a:ln w="12700">
            <a:solidFill>
              <a:srgbClr val="D8CE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56648" y="1965960"/>
            <a:ext cx="1847088" cy="1691640"/>
          </a:xfrm>
          <a:prstGeom prst="roundRect">
            <a:avLst>
              <a:gd name="adj" fmla="val 3784"/>
            </a:avLst>
          </a:prstGeom>
          <a:solidFill>
            <a:srgbClr val="4D6E8A"/>
          </a:solidFill>
          <a:ln w="12700">
            <a:solidFill>
              <a:srgbClr val="4D6E8A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56648" y="2267712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</a:rPr>
              <a:t>$57K</a:t>
            </a:r>
            <a:endParaRPr lang="en-US" sz="3100" dirty="0"/>
          </a:p>
        </p:txBody>
      </p:sp>
      <p:sp>
        <p:nvSpPr>
          <p:cNvPr id="26" name="Text 24"/>
          <p:cNvSpPr/>
          <p:nvPr/>
        </p:nvSpPr>
        <p:spPr>
          <a:xfrm>
            <a:off x="9921240" y="299008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kern="0" spc="40" dirty="0">
                <a:solidFill>
                  <a:srgbClr val="FFFFFF"/>
                </a:solidFill>
              </a:rPr>
              <a:t>BOOKED KPI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68680" y="4343400"/>
            <a:ext cx="4709160" cy="1051560"/>
          </a:xfrm>
          <a:prstGeom prst="roundRect">
            <a:avLst>
              <a:gd name="adj" fmla="val 4348"/>
            </a:avLst>
          </a:prstGeom>
          <a:solidFill>
            <a:srgbClr val="F9DED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459028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E66B55"/>
                </a:solidFill>
              </a:rPr>
              <a:t>THE TRAP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103120" y="451713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E1F47"/>
                </a:solidFill>
              </a:rPr>
              <a:t>Filtering August Completed rows before version selection produces the wrong KPI.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897880" y="4343400"/>
            <a:ext cx="5257800" cy="1051560"/>
          </a:xfrm>
          <a:prstGeom prst="roundRect">
            <a:avLst>
              <a:gd name="adj" fmla="val 4348"/>
            </a:avLst>
          </a:prstGeom>
          <a:solidFill>
            <a:srgbClr val="E5EFE5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459028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397C78"/>
                </a:solidFill>
              </a:rPr>
              <a:t>SHOW THIS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50608" y="4517136"/>
            <a:ext cx="36393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E1F47"/>
                </a:solidFill>
              </a:rPr>
              <a:t>A formula, its source rows, and a zero-difference reconciliation - not merely a chart.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6547104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F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COWORKSKILLING  |  TRAIN THE TRAINER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E1F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1371600"/>
            <a:ext cx="0" cy="4754880"/>
          </a:xfrm>
          <a:prstGeom prst="line">
            <a:avLst/>
          </a:prstGeom>
          <a:noFill/>
          <a:ln w="50800">
            <a:solidFill>
              <a:srgbClr val="E66B55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01168" y="1261872"/>
            <a:ext cx="219456" cy="219456"/>
          </a:xfrm>
          <a:prstGeom prst="ellipse">
            <a:avLst/>
          </a:prstGeom>
          <a:solidFill>
            <a:srgbClr val="E66B55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3639312"/>
            <a:ext cx="219456" cy="219456"/>
          </a:xfrm>
          <a:prstGeom prst="ellipse">
            <a:avLst/>
          </a:prstGeom>
          <a:solidFill>
            <a:srgbClr val="E66B55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601675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2004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E66B55"/>
                </a:solidFill>
              </a:rPr>
              <a:t>THE TRUST BOUNDARY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E1F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Inspect before you share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F5E5E1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105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66B55"/>
                </a:solidFill>
              </a:rPr>
              <a:t>Looks finished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1143000" y="2514600"/>
            <a:ext cx="493776" cy="493776"/>
          </a:xfrm>
          <a:prstGeom prst="ellipse">
            <a:avLst/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569464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46504" y="2542032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E1F47"/>
                </a:solidFill>
              </a:rPr>
              <a:t>Polished executive summary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43000" y="3172968"/>
            <a:ext cx="493776" cy="493776"/>
          </a:xfrm>
          <a:prstGeom prst="ellipse">
            <a:avLst/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22783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46504" y="3200400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E1F47"/>
                </a:solidFill>
              </a:rPr>
              <a:t>Plausible evidence label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43000" y="3831336"/>
            <a:ext cx="493776" cy="493776"/>
          </a:xfrm>
          <a:prstGeom prst="ellipse">
            <a:avLst/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8862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46504" y="3858768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E1F47"/>
                </a:solidFill>
              </a:rPr>
              <a:t>Formatted workbook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43000" y="4489704"/>
            <a:ext cx="493776" cy="493776"/>
          </a:xfrm>
          <a:prstGeom prst="ellipse">
            <a:avLst/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454456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46504" y="4517136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E1F47"/>
                </a:solidFill>
              </a:rPr>
              <a:t>Zero shown in a check cell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27648" y="1481328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E5EFE5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18105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397C78"/>
                </a:solidFill>
              </a:rPr>
              <a:t>Passes review</a:t>
            </a:r>
            <a:endParaRPr lang="en-US" sz="2500" dirty="0"/>
          </a:p>
        </p:txBody>
      </p:sp>
      <p:sp>
        <p:nvSpPr>
          <p:cNvPr id="24" name="Shape 22"/>
          <p:cNvSpPr/>
          <p:nvPr/>
        </p:nvSpPr>
        <p:spPr>
          <a:xfrm>
            <a:off x="6693408" y="2514600"/>
            <a:ext cx="493776" cy="493776"/>
          </a:xfrm>
          <a:prstGeom prst="ellipse">
            <a:avLst/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93408" y="2569464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96912" y="2542032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E1F47"/>
                </a:solidFill>
              </a:rPr>
              <a:t>Claims trace to actual source sections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93408" y="3172968"/>
            <a:ext cx="493776" cy="493776"/>
          </a:xfrm>
          <a:prstGeom prst="ellipse">
            <a:avLst/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322783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96912" y="3200400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E1F47"/>
                </a:solidFill>
              </a:rPr>
              <a:t>Gaps remain qualified and visible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693408" y="3831336"/>
            <a:ext cx="493776" cy="493776"/>
          </a:xfrm>
          <a:prstGeom prst="ellipse">
            <a:avLst/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93408" y="38862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96912" y="3858768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E1F47"/>
                </a:solidFill>
              </a:rPr>
              <a:t>Formulas and lineage are inspectable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93408" y="4489704"/>
            <a:ext cx="493776" cy="493776"/>
          </a:xfrm>
          <a:prstGeom prst="ellipse">
            <a:avLst/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454456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96912" y="4517136"/>
            <a:ext cx="3694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3E1F47"/>
                </a:solidFill>
              </a:rPr>
              <a:t>Checks recalculate from retained data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02920" y="6547104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F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COWORKSKILLING  |  TRAIN THE TRAINER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E1F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1371600"/>
            <a:ext cx="0" cy="4754880"/>
          </a:xfrm>
          <a:prstGeom prst="line">
            <a:avLst/>
          </a:prstGeom>
          <a:noFill/>
          <a:ln w="50800">
            <a:solidFill>
              <a:srgbClr val="7D365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01168" y="1261872"/>
            <a:ext cx="219456" cy="219456"/>
          </a:xfrm>
          <a:prstGeom prst="ellipse">
            <a:avLst/>
          </a:prstGeom>
          <a:solidFill>
            <a:srgbClr val="7D3658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3639312"/>
            <a:ext cx="219456" cy="219456"/>
          </a:xfrm>
          <a:prstGeom prst="ellipse">
            <a:avLst/>
          </a:prstGeom>
          <a:solidFill>
            <a:srgbClr val="7D3658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601675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2004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E66B55"/>
                </a:solidFill>
              </a:rPr>
              <a:t>FROM PROCEDURE TO SKILL.MD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E1F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skill is reusable instruction - not the connection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960120" y="1417320"/>
            <a:ext cx="6537960" cy="621792"/>
          </a:xfrm>
          <a:prstGeom prst="roundRect">
            <a:avLst>
              <a:gd name="adj" fmla="val 8824"/>
            </a:avLst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15727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FFFFFF"/>
                </a:solidFill>
              </a:rPr>
              <a:t>USER REQUEST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5544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Intent + scope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960120" y="2276856"/>
            <a:ext cx="6025896" cy="621792"/>
          </a:xfrm>
          <a:prstGeom prst="roundRect">
            <a:avLst>
              <a:gd name="adj" fmla="val 8824"/>
            </a:avLst>
          </a:prstGeom>
          <a:solidFill>
            <a:srgbClr val="7D3658"/>
          </a:solidFill>
          <a:ln w="12700">
            <a:solidFill>
              <a:srgbClr val="7D36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4323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FFFFFF"/>
                </a:solidFill>
              </a:rPr>
              <a:t>SKILL.MD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241401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Triggers + workflow + guardrails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60120" y="3136392"/>
            <a:ext cx="5513832" cy="621792"/>
          </a:xfrm>
          <a:prstGeom prst="roundRect">
            <a:avLst>
              <a:gd name="adj" fmla="val 8824"/>
            </a:avLst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291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FFFFFF"/>
                </a:solidFill>
              </a:rPr>
              <a:t>CAPABILITY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2735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Fabric agent / Power BI / email tool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60120" y="3995928"/>
            <a:ext cx="5001768" cy="621792"/>
          </a:xfrm>
          <a:prstGeom prst="roundRect">
            <a:avLst>
              <a:gd name="adj" fmla="val 8824"/>
            </a:avLst>
          </a:prstGeom>
          <a:solidFill>
            <a:srgbClr val="4D6E8A"/>
          </a:solidFill>
          <a:ln w="12700">
            <a:solidFill>
              <a:srgbClr val="4D6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15137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FFFFFF"/>
                </a:solidFill>
              </a:rPr>
              <a:t>PERMISSIONS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413308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Tenant policy + user authorization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60120" y="4855464"/>
            <a:ext cx="4489704" cy="621792"/>
          </a:xfrm>
          <a:prstGeom prst="roundRect">
            <a:avLst>
              <a:gd name="adj" fmla="val 8824"/>
            </a:avLst>
          </a:prstGeom>
          <a:solidFill>
            <a:srgbClr val="E7A74E"/>
          </a:solidFill>
          <a:ln w="12700">
            <a:solidFill>
              <a:srgbClr val="E7A7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501091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231F20"/>
                </a:solidFill>
              </a:rPr>
              <a:t>EVIDENCE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49926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b="1" dirty="0">
                <a:solidFill>
                  <a:srgbClr val="231F20"/>
                </a:solidFill>
              </a:rPr>
              <a:t>Returned data + disclosed limitations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8366760" y="1600200"/>
            <a:ext cx="2926080" cy="3611880"/>
          </a:xfrm>
          <a:prstGeom prst="roundRect">
            <a:avLst>
              <a:gd name="adj" fmla="val 2500"/>
            </a:avLst>
          </a:prstGeom>
          <a:solidFill>
            <a:srgbClr val="F8F2E7"/>
          </a:solidFill>
          <a:ln w="12700">
            <a:solidFill>
              <a:srgbClr val="D8CE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68512" y="19019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1F47"/>
                </a:solidFill>
              </a:rPr>
              <a:t>What SKILL.md cannot do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732520" y="2651760"/>
            <a:ext cx="201168" cy="201168"/>
          </a:xfrm>
          <a:prstGeom prst="ellipse">
            <a:avLst/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70848" y="2596896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31F20"/>
                </a:solidFill>
              </a:rPr>
              <a:t>Create a data agent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8732520" y="3090672"/>
            <a:ext cx="201168" cy="201168"/>
          </a:xfrm>
          <a:prstGeom prst="ellipse">
            <a:avLst/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70848" y="3035808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31F20"/>
                </a:solidFill>
              </a:rPr>
              <a:t>Grant access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8732520" y="3529584"/>
            <a:ext cx="201168" cy="201168"/>
          </a:xfrm>
          <a:prstGeom prst="ellipse">
            <a:avLst/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0848" y="34747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31F20"/>
                </a:solidFill>
              </a:rPr>
              <a:t>Connect a tenant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8732520" y="3968496"/>
            <a:ext cx="201168" cy="201168"/>
          </a:xfrm>
          <a:prstGeom prst="ellipse">
            <a:avLst/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70848" y="391363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31F20"/>
                </a:solidFill>
              </a:rPr>
              <a:t>Guarantee email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8732520" y="4407408"/>
            <a:ext cx="201168" cy="201168"/>
          </a:xfrm>
          <a:prstGeom prst="ellipse">
            <a:avLst/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70848" y="435254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31F20"/>
                </a:solidFill>
              </a:rPr>
              <a:t>Make results deterministic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502920" y="6547104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F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COWORKSKILLING  |  TRAIN THE TRAINER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E1F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2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1371600"/>
            <a:ext cx="0" cy="4754880"/>
          </a:xfrm>
          <a:prstGeom prst="line">
            <a:avLst/>
          </a:prstGeom>
          <a:noFill/>
          <a:ln w="50800">
            <a:solidFill>
              <a:srgbClr val="397C78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01168" y="1261872"/>
            <a:ext cx="219456" cy="219456"/>
          </a:xfrm>
          <a:prstGeom prst="ellipse">
            <a:avLst/>
          </a:prstGeom>
          <a:solidFill>
            <a:srgbClr val="397C78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3639312"/>
            <a:ext cx="219456" cy="219456"/>
          </a:xfrm>
          <a:prstGeom prst="ellipse">
            <a:avLst/>
          </a:prstGeom>
          <a:solidFill>
            <a:srgbClr val="397C78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601675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2004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E66B55"/>
                </a:solidFill>
              </a:rPr>
              <a:t>SKILL LIFECYCLE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E1F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 once. Test in fresh sessions.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658368" y="1508760"/>
            <a:ext cx="1901952" cy="2148840"/>
          </a:xfrm>
          <a:prstGeom prst="roundRect">
            <a:avLst>
              <a:gd name="adj" fmla="val 3365"/>
            </a:avLst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" y="18105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10" dirty="0">
                <a:solidFill>
                  <a:srgbClr val="FFFFFF"/>
                </a:solidFill>
              </a:rPr>
              <a:t>EDIT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" y="2340864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</a:rPr>
              <a:t>Replace SKILL.md in the matching OneDrive folder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2578608" y="2395728"/>
            <a:ext cx="292608" cy="310896"/>
          </a:xfrm>
          <a:prstGeom prst="chevron">
            <a:avLst/>
          </a:prstGeom>
          <a:solidFill>
            <a:srgbClr val="D8CEC2"/>
          </a:solidFill>
          <a:ln w="12700">
            <a:solidFill>
              <a:srgbClr val="D8CE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44368" y="1508760"/>
            <a:ext cx="1901952" cy="2148840"/>
          </a:xfrm>
          <a:prstGeom prst="roundRect">
            <a:avLst>
              <a:gd name="adj" fmla="val 3365"/>
            </a:avLst>
          </a:prstGeom>
          <a:solidFill>
            <a:srgbClr val="E7A74E"/>
          </a:solidFill>
          <a:ln w="12700">
            <a:solidFill>
              <a:srgbClr val="E7A74E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81528" y="18105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10" dirty="0">
                <a:solidFill>
                  <a:srgbClr val="FFFFFF"/>
                </a:solidFill>
              </a:rPr>
              <a:t>SYNC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45536" y="2340864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</a:rPr>
              <a:t>Wait for OneDrive and keep one authoritative copy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4864608" y="2395728"/>
            <a:ext cx="292608" cy="310896"/>
          </a:xfrm>
          <a:prstGeom prst="chevron">
            <a:avLst/>
          </a:prstGeom>
          <a:solidFill>
            <a:srgbClr val="D8CEC2"/>
          </a:solidFill>
          <a:ln w="12700">
            <a:solidFill>
              <a:srgbClr val="D8CE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30368" y="1508760"/>
            <a:ext cx="1901952" cy="2148840"/>
          </a:xfrm>
          <a:prstGeom prst="roundRect">
            <a:avLst>
              <a:gd name="adj" fmla="val 3365"/>
            </a:avLst>
          </a:prstGeom>
          <a:solidFill>
            <a:srgbClr val="7D3658"/>
          </a:solidFill>
          <a:ln w="12700">
            <a:solidFill>
              <a:srgbClr val="7D3658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67528" y="18105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10" dirty="0">
                <a:solidFill>
                  <a:srgbClr val="FFFFFF"/>
                </a:solidFill>
              </a:rPr>
              <a:t>NEW SESSION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31536" y="2340864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</a:rPr>
              <a:t>Confirm the intended skill is active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7150608" y="2395728"/>
            <a:ext cx="292608" cy="310896"/>
          </a:xfrm>
          <a:prstGeom prst="chevron">
            <a:avLst/>
          </a:prstGeom>
          <a:solidFill>
            <a:srgbClr val="D8CEC2"/>
          </a:solidFill>
          <a:ln w="12700">
            <a:solidFill>
              <a:srgbClr val="D8CE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16368" y="1508760"/>
            <a:ext cx="1901952" cy="2148840"/>
          </a:xfrm>
          <a:prstGeom prst="roundRect">
            <a:avLst>
              <a:gd name="adj" fmla="val 3365"/>
            </a:avLst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53528" y="18105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10" dirty="0">
                <a:solidFill>
                  <a:srgbClr val="FFFFFF"/>
                </a:solidFill>
              </a:rPr>
              <a:t>TEST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17536" y="2340864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</a:rPr>
              <a:t>Positive | negative | missing source | action confirmation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9436608" y="2395728"/>
            <a:ext cx="292608" cy="310896"/>
          </a:xfrm>
          <a:prstGeom prst="chevron">
            <a:avLst/>
          </a:prstGeom>
          <a:solidFill>
            <a:srgbClr val="D8CEC2"/>
          </a:solidFill>
          <a:ln w="12700">
            <a:solidFill>
              <a:srgbClr val="D8CE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02368" y="1508760"/>
            <a:ext cx="1901952" cy="2148840"/>
          </a:xfrm>
          <a:prstGeom prst="roundRect">
            <a:avLst>
              <a:gd name="adj" fmla="val 3365"/>
            </a:avLst>
          </a:prstGeom>
          <a:solidFill>
            <a:srgbClr val="4D6E8A"/>
          </a:solidFill>
          <a:ln w="12700">
            <a:solidFill>
              <a:srgbClr val="4D6E8A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39528" y="18105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10" dirty="0">
                <a:solidFill>
                  <a:srgbClr val="FFFFFF"/>
                </a:solidFill>
              </a:rPr>
              <a:t>REVISE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03536" y="2340864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</a:rPr>
              <a:t>Narrow triggers or strengthen grounding from evidence</a:t>
            </a:r>
            <a:endParaRPr lang="en-US" sz="1160" dirty="0"/>
          </a:p>
        </p:txBody>
      </p:sp>
      <p:sp>
        <p:nvSpPr>
          <p:cNvPr id="27" name="Shape 25"/>
          <p:cNvSpPr/>
          <p:nvPr/>
        </p:nvSpPr>
        <p:spPr>
          <a:xfrm>
            <a:off x="1143000" y="4315968"/>
            <a:ext cx="9921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CE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81328" y="4617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6B55"/>
                </a:solidFill>
              </a:rPr>
              <a:t>Email test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70048" y="4535424"/>
            <a:ext cx="7909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3E1F47"/>
                </a:solidFill>
              </a:rPr>
              <a:t>Answer first &gt; ask whether to email &gt; collect recipients &gt; show exact subject/content &gt; confirm &gt; send only if capability exists.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502920" y="6547104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F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COWORKSKILLING  |  TRAIN THE TRAINER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E1F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1371600"/>
            <a:ext cx="0" cy="4754880"/>
          </a:xfrm>
          <a:prstGeom prst="line">
            <a:avLst/>
          </a:prstGeom>
          <a:noFill/>
          <a:ln w="50800">
            <a:solidFill>
              <a:srgbClr val="E7A74E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201168" y="126187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363931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6016752"/>
            <a:ext cx="219456" cy="219456"/>
          </a:xfrm>
          <a:prstGeom prst="ellipse">
            <a:avLst/>
          </a:prstGeom>
          <a:solidFill>
            <a:srgbClr val="E7A74E"/>
          </a:solidFill>
          <a:ln w="19050">
            <a:solidFill>
              <a:srgbClr val="FFF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2004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E66B55"/>
                </a:solidFill>
              </a:rPr>
              <a:t>PARTICIPANT PRACTICE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6035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3E1F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Teach-back: can you explain the evidence boundary?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9DED5"/>
          </a:solidFill>
          <a:ln w="8890">
            <a:solidFill>
              <a:srgbClr val="D8CEC2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33272" y="1673352"/>
            <a:ext cx="384048" cy="384048"/>
          </a:xfrm>
          <a:prstGeom prst="ellipse">
            <a:avLst/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16367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E1F47"/>
                </a:solidFill>
              </a:rPr>
              <a:t>Business value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2203704"/>
            <a:ext cx="283464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</a:rPr>
              <a:t>Why does this scenario matter?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</a:rPr>
              <a:t>What does the generated output still not prove?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</a:rPr>
              <a:t>Name the reviewer who remains in the loop.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07408" y="141732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8EBCF"/>
          </a:solidFill>
          <a:ln w="8890">
            <a:solidFill>
              <a:srgbClr val="D8CEC2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673352"/>
            <a:ext cx="384048" cy="384048"/>
          </a:xfrm>
          <a:prstGeom prst="ellipse">
            <a:avLst/>
          </a:prstGeom>
          <a:solidFill>
            <a:srgbClr val="E7A74E"/>
          </a:solidFill>
          <a:ln w="12700">
            <a:solidFill>
              <a:srgbClr val="E7A7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16367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E1F47"/>
                </a:solidFill>
              </a:rPr>
              <a:t>Grounding trap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81728" y="2203704"/>
            <a:ext cx="283464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</a:rPr>
              <a:t>Where could polished output overstate the source?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</a:rPr>
              <a:t>State the correct evidence boundary.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</a:rPr>
              <a:t>Name one unknown that must remain visible.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37576" y="141732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E5EFE5"/>
          </a:solidFill>
          <a:ln w="8890">
            <a:solidFill>
              <a:srgbClr val="D8CEC2"/>
            </a:solidFill>
            <a:prstDash val="solid"/>
          </a:ln>
          <a:effectLst>
            <a:outerShdw blurRad="381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93608" y="1673352"/>
            <a:ext cx="384048" cy="384048"/>
          </a:xfrm>
          <a:prstGeom prst="ellipse">
            <a:avLst/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14816" y="16367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E1F47"/>
                </a:solidFill>
              </a:rPr>
              <a:t>Inspection point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11896" y="2203704"/>
            <a:ext cx="283464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</a:rPr>
              <a:t>Which file, claim, formula, or row must you open?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</a:rPr>
              <a:t>What is the pass/fail checkpoint?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31F20"/>
                </a:solidFill>
              </a:rPr>
              <a:t>What will you show beside the output?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188720" y="5257800"/>
            <a:ext cx="9829800" cy="530352"/>
          </a:xfrm>
          <a:prstGeom prst="roundRect">
            <a:avLst>
              <a:gd name="adj" fmla="val 6897"/>
            </a:avLst>
          </a:prstGeom>
          <a:solidFill>
            <a:srgbClr val="3E1F47"/>
          </a:solidFill>
          <a:ln w="12700">
            <a:solidFill>
              <a:srgbClr val="3E1F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5413248"/>
            <a:ext cx="9098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Add one sentence: "If the run is slow, incomplete, or wrong, I will..."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6547104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6F68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COWORKSKILLING  |  TRAIN THE TRAINER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E1F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E1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600000">
            <a:off x="-1005840" y="3108960"/>
            <a:ext cx="4754880" cy="4754880"/>
          </a:xfrm>
          <a:prstGeom prst="arc">
            <a:avLst/>
          </a:prstGeom>
          <a:solidFill>
            <a:srgbClr val="397C78">
              <a:alpha val="90000"/>
            </a:srgbClr>
          </a:solidFill>
          <a:ln w="12700">
            <a:solidFill>
              <a:srgbClr val="397C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8412480" y="-1463040"/>
            <a:ext cx="5029200" cy="5029200"/>
          </a:xfrm>
          <a:prstGeom prst="arc">
            <a:avLst/>
          </a:prstGeom>
          <a:solidFill>
            <a:srgbClr val="E66B55">
              <a:alpha val="92000"/>
            </a:srgbClr>
          </a:solidFill>
          <a:ln w="12700">
            <a:solidFill>
              <a:srgbClr val="E66B5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261872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 FOR EVIDENCE,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THEATER.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463040" y="3218688"/>
            <a:ext cx="9281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50" dirty="0">
                <a:solidFill>
                  <a:srgbClr val="F4E8E1"/>
                </a:solidFill>
              </a:rPr>
              <a:t>A credible Cowork demonstration shows the source, the limits, and the reviewer - not only the generated artifact.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3063240" y="4617720"/>
            <a:ext cx="1417320" cy="347472"/>
          </a:xfrm>
          <a:prstGeom prst="roundRect">
            <a:avLst>
              <a:gd name="adj" fmla="val 42105"/>
            </a:avLst>
          </a:prstGeom>
          <a:solidFill>
            <a:srgbClr val="E66B55"/>
          </a:solidFill>
          <a:ln w="12700">
            <a:solidFill>
              <a:srgbClr val="E66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3240" y="46360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REHEARSE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36592" y="4617720"/>
            <a:ext cx="1417320" cy="347472"/>
          </a:xfrm>
          <a:prstGeom prst="roundRect">
            <a:avLst>
              <a:gd name="adj" fmla="val 42105"/>
            </a:avLst>
          </a:prstGeom>
          <a:solidFill>
            <a:srgbClr val="397C78"/>
          </a:solidFill>
          <a:ln w="12700">
            <a:solidFill>
              <a:srgbClr val="397C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46360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INSPECT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9944" y="4617720"/>
            <a:ext cx="1508760" cy="347472"/>
          </a:xfrm>
          <a:prstGeom prst="roundRect">
            <a:avLst>
              <a:gd name="adj" fmla="val 42105"/>
            </a:avLst>
          </a:prstGeom>
          <a:solidFill>
            <a:srgbClr val="E7A74E"/>
          </a:solidFill>
          <a:ln w="12700">
            <a:solidFill>
              <a:srgbClr val="E7A7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46360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31F20"/>
                </a:solidFill>
              </a:rPr>
              <a:t>DISCLOSE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6547104"/>
            <a:ext cx="5212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DCCFD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COWORKSKILLING  |  TRAIN THE TRAINER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201400" y="6492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877</Words>
  <Application>Microsoft Office PowerPoint</Application>
  <PresentationFormat>Widescreen</PresentationFormat>
  <Paragraphs>248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DataSnowman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CoworkSkilling - Train the Trainer</dc:title>
  <dc:subject>Microsoft 365 Copilot Cowork train-the-trainer</dc:subject>
  <dc:creator>DataSnowman / GitHub Copilot</dc:creator>
  <cp:lastModifiedBy>Darwin Schweitzer</cp:lastModifiedBy>
  <cp:revision>1</cp:revision>
  <dcterms:created xsi:type="dcterms:W3CDTF">2026-09-28T21:32:20Z</dcterms:created>
  <dcterms:modified xsi:type="dcterms:W3CDTF">2026-09-28T21:32:23Z</dcterms:modified>
</cp:coreProperties>
</file>